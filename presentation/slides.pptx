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4E7C"/>
                </a:solidFill>
              </a:defRPr>
            </a:pPr>
            <a:r>
              <a:t>Identifying Depression Through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95057"/>
                </a:solidFill>
              </a:defRPr>
            </a:pPr>
            <a:r>
              <a:t>A Comparative Analysis of Acoustic Features</a:t>
            </a:r>
            <a:br/>
            <a:r>
              <a:t>in Read and Spontaneous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Nile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95057"/>
                </a:solidFill>
              </a:defRPr>
            </a:pPr>
            <a:r>
              <a:t>University of Glasgow</a:t>
            </a:r>
            <a:br/>
            <a:r>
              <a:t>School of Computing Science</a:t>
            </a:r>
            <a:br/>
            <a:r>
              <a:t>Level 4 Dissertation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4E7C"/>
                </a:solidFill>
              </a:defRPr>
            </a:pPr>
            <a:r>
              <a:t>⚠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00000"/>
                </a:solidFill>
              </a:defRPr>
            </a:pPr>
            <a:r>
              <a:t>280+ million affected globally</a:t>
            </a:r>
          </a:p>
          <a:p>
            <a:pPr>
              <a:spcBef>
                <a:spcPts val="400"/>
              </a:spcBef>
              <a:defRPr sz="1800" b="1">
                <a:solidFill>
                  <a:srgbClr val="000000"/>
                </a:solidFill>
              </a:defRPr>
            </a:pPr>
            <a:r>
              <a:t>1 in 6 UK adults weekly</a:t>
            </a:r>
          </a:p>
          <a:p>
            <a:pPr>
              <a:spcBef>
                <a:spcPts val="400"/>
              </a:spcBef>
              <a:defRPr sz="1800" b="0">
                <a:solidFill>
                  <a:srgbClr val="000000"/>
                </a:solidFill>
              </a:defRPr>
            </a:pPr>
            <a:r>
              <a:t>Diagnosis relies on self-report</a:t>
            </a:r>
          </a:p>
          <a:p>
            <a:pPr>
              <a:spcBef>
                <a:spcPts val="400"/>
              </a:spcBef>
              <a:defRPr sz="1800" b="0">
                <a:solidFill>
                  <a:srgbClr val="000000"/>
                </a:solidFill>
              </a:defRPr>
            </a:pPr>
            <a:r>
              <a:t>Inter-rater reliability as low as 0.28 kappa</a:t>
            </a:r>
          </a:p>
          <a:p>
            <a:pPr>
              <a:spcBef>
                <a:spcPts val="400"/>
              </a:spcBef>
              <a:defRPr sz="1800" b="0">
                <a:solidFill>
                  <a:srgbClr val="000000"/>
                </a:solidFill>
              </a:defRPr>
            </a:pPr>
            <a:r>
              <a:t>Access barriers to specialist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8754"/>
                </a:solidFill>
              </a:defRPr>
            </a:pPr>
            <a:r>
              <a:t>💡 The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3891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🔊 Speech</a:t>
            </a:r>
            <a:br/>
            <a:br/>
            <a:r>
              <a:t>Non-invasive</a:t>
            </a:r>
            <a:br/>
            <a:r>
              <a:t>Remote collection</a:t>
            </a:r>
            <a:br/>
            <a:r>
              <a:t>No specialist equipment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The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95057"/>
                </a:solidFill>
              </a:defRPr>
            </a:pPr>
            <a:r>
              <a:t>✓ What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Deep learning models achieving 80%+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4114800" cy="13716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3464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95057"/>
                </a:solidFill>
              </a:defRPr>
            </a:pPr>
            <a:r>
              <a:t>"Black Box"</a:t>
            </a:r>
            <a:br/>
            <a:br/>
            <a:r>
              <a:t>High accuracy</a:t>
            </a:r>
            <a:br/>
            <a:r>
              <a:t>No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7B6"/>
                </a:solidFill>
              </a:defRPr>
            </a:pPr>
            <a:r>
              <a:t>❓ What's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800" b="0">
                <a:solidFill>
                  <a:srgbClr val="000000"/>
                </a:solidFill>
              </a:defRPr>
            </a:pPr>
            <a:r>
              <a:t>Which features indicate depression?</a:t>
            </a:r>
          </a:p>
          <a:p>
            <a:pPr>
              <a:spcBef>
                <a:spcPts val="400"/>
              </a:spcBef>
              <a:defRPr sz="1800" b="0">
                <a:solidFill>
                  <a:srgbClr val="000000"/>
                </a:solidFill>
              </a:defRPr>
            </a:pPr>
            <a:r>
              <a:t>Does speech task type matter?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00400"/>
            <a:ext cx="502920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Research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00400"/>
            <a:ext cx="5029200" cy="457200"/>
          </a:xfrm>
          <a:prstGeom prst="round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5057"/>
                </a:solidFill>
              </a:defRPr>
            </a:pPr>
            <a:r>
              <a:t>Which acoustic features are most predictive of depression, and how do they differ between read and spontaneous speech?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Approach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926080" cy="20116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7C"/>
                </a:solidFill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37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t>ANDROIDS</a:t>
            </a:r>
            <a:br/>
            <a:r>
              <a:t>118 speakers</a:t>
            </a:r>
            <a:br/>
            <a:r>
              <a:t>Both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95057"/>
                </a:solidFill>
              </a:defRPr>
            </a:pPr>
            <a:r>
              <a:t>Clinical diagnoses</a:t>
            </a:r>
            <a:br/>
            <a:r>
              <a:t>Same participants do both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188720"/>
            <a:ext cx="2926080" cy="20116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7C"/>
                </a:solidFill>
              </a:defRPr>
            </a:pPr>
            <a: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737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t>eGeMAPS</a:t>
            </a:r>
            <a:br/>
            <a:r>
              <a:t>88 interpretable</a:t>
            </a:r>
            <a:br/>
            <a:r>
              <a:t>acoustic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95057"/>
                </a:solidFill>
              </a:defRPr>
            </a:pPr>
            <a:r>
              <a:t>Prosody, spectral, voice</a:t>
            </a:r>
            <a:br/>
            <a:r>
              <a:t>quality, timing</a:t>
            </a:r>
            <a:br/>
            <a:r>
              <a:t>Each feature = meaning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188720"/>
            <a:ext cx="2926080" cy="20116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E7C"/>
                </a:solidFill>
              </a:defRPr>
            </a:pPr>
            <a: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737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t>SVM + RF</a:t>
            </a:r>
            <a:br/>
            <a:r>
              <a:t>Interpretable</a:t>
            </a:r>
            <a:br/>
            <a:r>
              <a:t>Not "black box"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95057"/>
                </a:solidFill>
              </a:defRPr>
            </a:pPr>
            <a:r>
              <a:t>Deliberately interpretable</a:t>
            </a:r>
            <a:br/>
            <a:r>
              <a:t>Not 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7B6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7B6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The Headline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E7C"/>
                </a:solidFill>
              </a:defRPr>
            </a:pPr>
            <a:r>
              <a:t>Interview speech significantly outperforms reading</a:t>
            </a:r>
          </a:p>
        </p:txBody>
      </p:sp>
      <p:pic>
        <p:nvPicPr>
          <p:cNvPr id="4" name="Picture 3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Task                   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Reading                72.3%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E7C"/>
                </a:solidFill>
              </a:defRPr>
            </a:pPr>
            <a:r>
              <a:t>Interview              87.1%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↑ +15 points difference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📈 p = 0.0055 significant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🏆 Beats prior DL (81.6%)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But Here's What's Interesting...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4E7C"/>
                </a:solidFill>
              </a:defRPr>
            </a:pPr>
            <a:r>
              <a:t>Different features predict depression in each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57200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572000" cy="457200"/>
          </a:xfrm>
          <a:prstGeom prst="round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Spectral slopes</a:t>
            </a:r>
            <a:br/>
            <a:r>
              <a:t>MFCCs</a:t>
            </a:r>
            <a:br/>
            <a:br/>
            <a:r>
              <a:t>Static properties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45920"/>
            <a:ext cx="457200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4572000" cy="457200"/>
          </a:xfrm>
          <a:prstGeom prst="roundRect">
            <a:avLst/>
          </a:prstGeom>
          <a:solidFill>
            <a:srgbClr val="0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91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Interview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9456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Variability measures</a:t>
            </a:r>
            <a:br/>
            <a:r>
              <a:t>Temporal dynamics</a:t>
            </a:r>
            <a:br/>
            <a:br/>
            <a:r>
              <a:t>Dynamic properties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9418320" cy="1371600"/>
          </a:xfrm>
          <a:prstGeom prst="roundRect">
            <a:avLst/>
          </a:prstGeom>
          <a:solidFill>
            <a:srgbClr val="FFF8E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206240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</a:defRPr>
            </a:pPr>
            <a:r>
              <a:t>⚠ Of top 10 features: Only 1 overlaps</a:t>
            </a:r>
            <a:br/>
            <a:br/>
            <a:r>
              <a:t>This isn't just "interview is better" — they capture qualitatively different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The Variability Finding</a:t>
            </a:r>
          </a:p>
        </p:txBody>
      </p:sp>
      <p:pic>
        <p:nvPicPr>
          <p:cNvPr id="3" name="Picture 2" descr="feature_import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E7C"/>
                </a:solidFill>
              </a:defRPr>
            </a:pPr>
            <a:r>
              <a:t>Interview: 7/10 are variability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1. Spectral flux variability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2. Hammarberg index variability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3. Pause duration variability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95057"/>
                </a:solidFill>
              </a:defRPr>
            </a:pPr>
            <a:r>
              <a:t>Reading: Only 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931920"/>
            <a:ext cx="4572000" cy="1828800"/>
          </a:xfrm>
          <a:prstGeom prst="roundRect">
            <a:avLst/>
          </a:prstGeom>
          <a:solidFill>
            <a:srgbClr val="E6FAF0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402336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Key insight:</a:t>
            </a:r>
            <a:br/>
            <a:br/>
            <a:r>
              <a:t>Depression compresses dynamic range</a:t>
            </a:r>
            <a:br/>
            <a:br/>
            <a:r>
              <a:t>"Flat affect" = reduced modulation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Why Interview Works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4E7C"/>
                </a:solidFill>
              </a:defRPr>
            </a:pPr>
            <a:r>
              <a:t>Three mechanisms from clinical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7B6"/>
                </a:solidFill>
              </a:defRPr>
            </a:pPr>
            <a:r>
              <a:t>Cognitive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t>Spontaneous speech requires planning, retrieval,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95057"/>
                </a:solidFill>
              </a:defRPr>
            </a:pPr>
            <a:r>
              <a:t>Depression impairs executive function → pauses, hesitations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</a:defRPr>
            </a:pPr>
            <a:r>
              <a:t>❤️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7B6"/>
                </a:solidFill>
              </a:defRPr>
            </a:pPr>
            <a:r>
              <a:t>Emotional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t>Interview topics engage affect (mood, relationships)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95057"/>
                </a:solidFill>
              </a:defRPr>
            </a:pPr>
            <a:r>
              <a:t>Depression alters expression → only visible when emotions relevant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</a:defRPr>
            </a:pPr>
            <a:r>
              <a:t>〰️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7B6"/>
                </a:solidFill>
              </a:defRPr>
            </a:pPr>
            <a:r>
              <a:t>Prosodic Freedom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t>Reading follows punctuation; conversation allows natural modulation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931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95057"/>
                </a:solidFill>
              </a:defRPr>
            </a:pPr>
            <a:r>
              <a:t>Depression compresses this natural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95057"/>
                </a:solidFill>
              </a:defRPr>
            </a:pPr>
            <a:r>
              <a:t>Interview captures all three channels. Reading suppresses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E7C"/>
                </a:solidFill>
              </a:defRPr>
            </a:pPr>
            <a:r>
              <a:t>🩺 Clinical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Task selection &gt; algorithm choice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Spontaneous &gt; reading for screening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Measure variability, not just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E7C"/>
                </a:solidFill>
              </a:defRPr>
            </a:pPr>
            <a:r>
              <a:t>🔬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Single-task studies miss markers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Feature importance is task-contingent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"MFCCs are best" may only hold for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E7C"/>
                </a:solidFill>
              </a:defRPr>
            </a:pPr>
            <a:r>
              <a:t>⚙️ System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Elicit spontaneous speech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Use open-ended questions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</a:defRPr>
            </a:pPr>
            <a:r>
              <a:t>Prioritise temporal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</a:defRPr>
            </a:pPr>
            <a:r>
              <a:t>⚠ Most Serious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Italian speech only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  → Features may not transfer to English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Modest sample size (118 speakers)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95057"/>
                </a:solidFill>
              </a:defRPr>
            </a:pPr>
            <a:r>
              <a:t>ℹ Moderate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Binary labels only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  → No severity information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Gender imbalance (72% female)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  → Women misclassified slightly more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9418320" cy="109728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84632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→ Cross-corpus validation essential before clinical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E7C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32720" cy="1645920"/>
          </a:xfrm>
          <a:prstGeom prst="roundRect">
            <a:avLst/>
          </a:prstGeom>
          <a:solidFill>
            <a:srgbClr val="EBF2F8"/>
          </a:solidFill>
          <a:ln w="2540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4E7C"/>
                </a:solidFill>
              </a:defRPr>
            </a:pPr>
            <a:r>
              <a:t>"Spontaneous speech captures depression markers that reading misses —</a:t>
            </a:r>
            <a:br/>
            <a:r>
              <a:t>specifically, the reduced dynamic modulation that clinicians call 'flat affect'."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4E7C"/>
                </a:solidFill>
              </a:defRPr>
            </a:pPr>
            <a:r>
              <a:t>Contributions: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1. Quantified the task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95057"/>
                </a:solidFill>
              </a:defRPr>
            </a:pPr>
            <a:r>
              <a:t>+15 points, p = 0.0055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2. Showed features are task-specific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95057"/>
                </a:solidFill>
              </a:defRPr>
            </a:pPr>
            <a:r>
              <a:t>Only 1/10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3. Interpretable methods match 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95057"/>
                </a:solidFill>
              </a:defRPr>
            </a:pPr>
            <a:r>
              <a:t>87.1% vs 81.6% prior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4. Identified key signal: variability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95057"/>
                </a:solidFill>
              </a:defRPr>
            </a:pPr>
            <a:r>
              <a:t>7/10 top interview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0000"/>
                </a:solidFill>
              </a:defRPr>
            </a:pPr>
            <a: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4E7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</a:defRPr>
            </a:pPr>
            <a:r>
              <a:t>Nile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95057"/>
                </a:solidFill>
              </a:defRPr>
            </a:pPr>
            <a:r>
              <a:t>University of Glasgow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95057"/>
                </a:solidFill>
              </a:defRPr>
            </a:pPr>
            <a:r>
              <a:t>Key numbers: 87.1% interview vs 72.3% reading (p = 0.0055)</a:t>
            </a:r>
            <a:br/>
            <a:r>
              <a:t>1/10 feature overlap  •  7/10 interview features are variability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95057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