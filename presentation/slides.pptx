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1E1E1E"/>
                </a:solidFill>
                <a:latin typeface="Helvetica Neue"/>
              </a:defRPr>
            </a:pPr>
            <a:r>
              <a:t>Identifying Depression</a:t>
            </a:r>
            <a:br/>
            <a:r>
              <a:t>Through Speech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47472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787878"/>
                </a:solidFill>
                <a:latin typeface="Helvetica Neue"/>
              </a:defRPr>
            </a:pPr>
            <a:r>
              <a:t>A Comparative Analysis of Acoustic Features in Read and Spontaneous Speech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4297680"/>
            <a:ext cx="1828800" cy="18288"/>
          </a:xfrm>
          <a:prstGeom prst="rect">
            <a:avLst/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57200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Helvetica Neue"/>
              </a:defRPr>
            </a:pPr>
            <a:r>
              <a:t>Nile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02920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87878"/>
                </a:solidFill>
                <a:latin typeface="Helvetica Neue"/>
              </a:defRPr>
            </a:pPr>
            <a:r>
              <a:t>University of Glasgow  ·  School of Computing Science  ·  Level 4 Dissertation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787878"/>
                </a:solidFill>
                <a:latin typeface="Helvetica Neue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1E1E"/>
                </a:solidFill>
                <a:latin typeface="Helvetica Neue"/>
              </a:defRPr>
            </a:pPr>
            <a:r>
              <a:t>Why This Matters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051560"/>
            <a:ext cx="1371600" cy="18288"/>
          </a:xfrm>
          <a:prstGeom prst="rect">
            <a:avLst/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371600"/>
            <a:ext cx="4846320" cy="4389120"/>
          </a:xfrm>
          <a:prstGeom prst="roundRect">
            <a:avLst>
              <a:gd name="adj" fmla="val 5000"/>
            </a:avLst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5544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3B30"/>
                </a:solidFill>
                <a:latin typeface="Helvetica Neue"/>
              </a:defRPr>
            </a:pPr>
            <a: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103120"/>
            <a:ext cx="41148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D2D2D"/>
                </a:solidFill>
                <a:latin typeface="Helvetica Neue"/>
              </a:defRPr>
            </a:pPr>
          </a:p>
          <a:p>
            <a:pPr>
              <a:spcBef>
                <a:spcPts val="1000"/>
              </a:spcBef>
              <a:defRPr sz="1600" b="0">
                <a:solidFill>
                  <a:srgbClr val="2D2D2D"/>
                </a:solidFill>
                <a:latin typeface="Helvetica Neue"/>
              </a:defRPr>
            </a:pPr>
            <a:r>
              <a:t>280+ million people affected globally</a:t>
            </a:r>
          </a:p>
          <a:p>
            <a:pPr>
              <a:spcBef>
                <a:spcPts val="1000"/>
              </a:spcBef>
              <a:defRPr sz="1600" b="0">
                <a:solidFill>
                  <a:srgbClr val="2D2D2D"/>
                </a:solidFill>
                <a:latin typeface="Helvetica Neue"/>
              </a:defRPr>
            </a:pPr>
            <a:r>
              <a:t>1 in 6 UK adults experience it weekly</a:t>
            </a:r>
          </a:p>
          <a:p>
            <a:pPr>
              <a:spcBef>
                <a:spcPts val="1000"/>
              </a:spcBef>
              <a:defRPr sz="1600" b="0">
                <a:solidFill>
                  <a:srgbClr val="2D2D2D"/>
                </a:solidFill>
                <a:latin typeface="Helvetica Neue"/>
              </a:defRPr>
            </a:pPr>
            <a:r>
              <a:t>Diagnosis relies on subjective self-report</a:t>
            </a:r>
          </a:p>
          <a:p>
            <a:pPr>
              <a:spcBef>
                <a:spcPts val="1000"/>
              </a:spcBef>
              <a:defRPr sz="1600" b="0">
                <a:solidFill>
                  <a:srgbClr val="2D2D2D"/>
                </a:solidFill>
                <a:latin typeface="Helvetica Neue"/>
              </a:defRPr>
            </a:pPr>
            <a:r>
              <a:t>Inter-rater reliability as low as 0.28 κ</a:t>
            </a:r>
          </a:p>
          <a:p>
            <a:pPr>
              <a:spcBef>
                <a:spcPts val="1000"/>
              </a:spcBef>
              <a:defRPr sz="1600" b="0">
                <a:solidFill>
                  <a:srgbClr val="2D2D2D"/>
                </a:solidFill>
                <a:latin typeface="Helvetica Neue"/>
              </a:defRPr>
            </a:pPr>
            <a:r>
              <a:t>Significant access barriers to specialist care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4846320" cy="4389120"/>
          </a:xfrm>
          <a:prstGeom prst="roundRect">
            <a:avLst>
              <a:gd name="adj" fmla="val 5000"/>
            </a:avLst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0" y="15544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FF"/>
                </a:solidFill>
                <a:latin typeface="Helvetica Neue"/>
              </a:defRPr>
            </a:pPr>
            <a:r>
              <a:t>The Opportunity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0" y="2286000"/>
            <a:ext cx="4114800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0" y="246888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D2D2D"/>
                </a:solidFill>
                <a:latin typeface="Helvetica Neue"/>
              </a:defRPr>
            </a:pPr>
            <a:r>
              <a:t>🔊  Speech Analysis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0" y="3063240"/>
            <a:ext cx="3383280" cy="18288"/>
          </a:xfrm>
          <a:prstGeom prst="rect">
            <a:avLst/>
          </a:prstGeom>
          <a:solidFill>
            <a:srgbClr val="E6E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0" y="3200400"/>
            <a:ext cx="374903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D2D2D"/>
                </a:solidFill>
                <a:latin typeface="Helvetica Neue"/>
              </a:defRPr>
            </a:pPr>
          </a:p>
          <a:p>
            <a:pPr>
              <a:spcBef>
                <a:spcPts val="800"/>
              </a:spcBef>
              <a:defRPr sz="1600" b="0">
                <a:solidFill>
                  <a:srgbClr val="787878"/>
                </a:solidFill>
                <a:latin typeface="Helvetica Neue"/>
              </a:defRPr>
            </a:pPr>
            <a:r>
              <a:t>Non-invasive</a:t>
            </a:r>
          </a:p>
          <a:p>
            <a:pPr>
              <a:spcBef>
                <a:spcPts val="800"/>
              </a:spcBef>
              <a:defRPr sz="1600" b="0">
                <a:solidFill>
                  <a:srgbClr val="787878"/>
                </a:solidFill>
                <a:latin typeface="Helvetica Neue"/>
              </a:defRPr>
            </a:pPr>
            <a:r>
              <a:t>Can be collected remotely</a:t>
            </a:r>
          </a:p>
          <a:p>
            <a:pPr>
              <a:spcBef>
                <a:spcPts val="800"/>
              </a:spcBef>
              <a:defRPr sz="1600" b="0">
                <a:solidFill>
                  <a:srgbClr val="787878"/>
                </a:solidFill>
                <a:latin typeface="Helvetica Neue"/>
              </a:defRPr>
            </a:pPr>
            <a:r>
              <a:t>No specialist equipment needed</a:t>
            </a:r>
          </a:p>
          <a:p>
            <a:pPr>
              <a:spcBef>
                <a:spcPts val="800"/>
              </a:spcBef>
              <a:defRPr sz="1600" b="0">
                <a:solidFill>
                  <a:srgbClr val="787878"/>
                </a:solidFill>
                <a:latin typeface="Helvetica Neue"/>
              </a:defRPr>
            </a:pPr>
            <a:r>
              <a:t>Objective and repeatable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787878"/>
                </a:solidFill>
                <a:latin typeface="Helvetica Neue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1E1E"/>
                </a:solidFill>
                <a:latin typeface="Helvetica Neue"/>
              </a:defRPr>
            </a:pPr>
            <a:r>
              <a:t>The Research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051560"/>
            <a:ext cx="1371600" cy="18288"/>
          </a:xfrm>
          <a:prstGeom prst="rect">
            <a:avLst/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371600"/>
            <a:ext cx="4846320" cy="2286000"/>
          </a:xfrm>
          <a:prstGeom prst="roundRect">
            <a:avLst>
              <a:gd name="adj" fmla="val 5000"/>
            </a:avLst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5544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87878"/>
                </a:solidFill>
                <a:latin typeface="Helvetica Neue"/>
              </a:defRPr>
            </a:pPr>
            <a:r>
              <a:t>What exists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011680"/>
            <a:ext cx="411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D2D2D"/>
                </a:solidFill>
                <a:latin typeface="Helvetica Neue"/>
              </a:defRPr>
            </a:pPr>
            <a:r>
              <a:t>Deep learning models achieving 80%+ accuracy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45920" y="2743200"/>
            <a:ext cx="365760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278892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87878"/>
                </a:solidFill>
                <a:latin typeface="Helvetica Neue"/>
              </a:defRPr>
            </a:pPr>
            <a:r>
              <a:t>"Black Box"  —  High accuracy, no explanation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371600"/>
            <a:ext cx="4846320" cy="2286000"/>
          </a:xfrm>
          <a:prstGeom prst="roundRect">
            <a:avLst>
              <a:gd name="adj" fmla="val 5000"/>
            </a:avLst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0" y="15544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9500"/>
                </a:solidFill>
                <a:latin typeface="Helvetica Neue"/>
              </a:defRPr>
            </a:pPr>
            <a:r>
              <a:t>What's missing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011680"/>
            <a:ext cx="411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D2D2D"/>
                </a:solidFill>
                <a:latin typeface="Helvetica Neue"/>
              </a:defRPr>
            </a:pPr>
          </a:p>
          <a:p>
            <a:pPr>
              <a:spcBef>
                <a:spcPts val="1000"/>
              </a:spcBef>
              <a:defRPr sz="1700" b="0">
                <a:solidFill>
                  <a:srgbClr val="2D2D2D"/>
                </a:solidFill>
                <a:latin typeface="Helvetica Neue"/>
              </a:defRPr>
            </a:pPr>
            <a:r>
              <a:t>Which features actually indicate depression?</a:t>
            </a:r>
          </a:p>
          <a:p>
            <a:pPr>
              <a:spcBef>
                <a:spcPts val="1000"/>
              </a:spcBef>
              <a:defRPr sz="1700" b="0">
                <a:solidFill>
                  <a:srgbClr val="2D2D2D"/>
                </a:solidFill>
                <a:latin typeface="Helvetica Neue"/>
              </a:defRPr>
            </a:pPr>
            <a:r>
              <a:t>Does speech task type change what we find?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114800"/>
            <a:ext cx="10332720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88720" y="4343400"/>
            <a:ext cx="109728" cy="109728"/>
          </a:xfrm>
          <a:prstGeom prst="ellipse">
            <a:avLst/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42519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AFF"/>
                </a:solidFill>
                <a:latin typeface="Helvetica Neue"/>
              </a:defRPr>
            </a:pPr>
            <a:r>
              <a:t>Research Question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75488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2D2D2D"/>
                </a:solidFill>
                <a:latin typeface="Helvetica Neue"/>
              </a:defRPr>
            </a:pPr>
            <a:r>
              <a:t>Which acoustic features are most predictive of depression,</a:t>
            </a:r>
            <a:br/>
            <a:r>
              <a:t>and how do they differ between read and spontaneous speech?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144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787878"/>
                </a:solidFill>
                <a:latin typeface="Helvetica Neue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1E1E"/>
                </a:solidFill>
                <a:latin typeface="Helvetica Neue"/>
              </a:defRPr>
            </a:pPr>
            <a:r>
              <a:t>Approach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051560"/>
            <a:ext cx="1371600" cy="18288"/>
          </a:xfrm>
          <a:prstGeom prst="rect">
            <a:avLst/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371600"/>
            <a:ext cx="3291840" cy="457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371600"/>
            <a:ext cx="3291840" cy="54864"/>
          </a:xfrm>
          <a:prstGeom prst="rect">
            <a:avLst/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E1E1E"/>
                </a:solidFill>
                <a:latin typeface="Helvetica Neue"/>
              </a:defRPr>
            </a:pPr>
            <a:r>
              <a:t>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103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87878"/>
                </a:solidFill>
                <a:latin typeface="Helvetica Neue"/>
              </a:defRPr>
            </a:pPr>
            <a:r>
              <a:t>ANDROIDS Corpus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2606040"/>
            <a:ext cx="2560320" cy="18288"/>
          </a:xfrm>
          <a:prstGeom prst="rect">
            <a:avLst/>
          </a:prstGeom>
          <a:solidFill>
            <a:srgbClr val="E6E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743200"/>
            <a:ext cx="2743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D2D2D"/>
                </a:solidFill>
                <a:latin typeface="Helvetica Neue"/>
              </a:defRPr>
            </a:pPr>
          </a:p>
          <a:p>
            <a:pPr>
              <a:spcBef>
                <a:spcPts val="800"/>
              </a:spcBef>
              <a:defRPr sz="1500" b="0">
                <a:solidFill>
                  <a:srgbClr val="2D2D2D"/>
                </a:solidFill>
                <a:latin typeface="Helvetica Neue"/>
              </a:defRPr>
            </a:pPr>
            <a:r>
              <a:t>118 Italian speakers</a:t>
            </a:r>
          </a:p>
          <a:p>
            <a:pPr>
              <a:spcBef>
                <a:spcPts val="800"/>
              </a:spcBef>
              <a:defRPr sz="1500" b="0">
                <a:solidFill>
                  <a:srgbClr val="2D2D2D"/>
                </a:solidFill>
                <a:latin typeface="Helvetica Neue"/>
              </a:defRPr>
            </a:pPr>
            <a:r>
              <a:t>Clinical psychiatric diagnoses</a:t>
            </a:r>
          </a:p>
          <a:p>
            <a:pPr>
              <a:spcBef>
                <a:spcPts val="800"/>
              </a:spcBef>
              <a:defRPr sz="1500" b="0">
                <a:solidFill>
                  <a:srgbClr val="2D2D2D"/>
                </a:solidFill>
                <a:latin typeface="Helvetica Neue"/>
              </a:defRPr>
            </a:pPr>
            <a:r>
              <a:t>Same participants, both tasks</a:t>
            </a:r>
          </a:p>
          <a:p>
            <a:pPr>
              <a:spcBef>
                <a:spcPts val="800"/>
              </a:spcBef>
              <a:defRPr sz="1500" b="0">
                <a:solidFill>
                  <a:srgbClr val="2D2D2D"/>
                </a:solidFill>
                <a:latin typeface="Helvetica Neue"/>
              </a:defRPr>
            </a:pPr>
            <a:r>
              <a:t>Reading + Interview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1371600"/>
            <a:ext cx="3291840" cy="457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63440" y="1371600"/>
            <a:ext cx="3291840" cy="54864"/>
          </a:xfrm>
          <a:prstGeom prst="rect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59" y="1645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E1E1E"/>
                </a:solidFill>
                <a:latin typeface="Helvetica Neue"/>
              </a:defRPr>
            </a:pPr>
            <a:r>
              <a:t>Features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59" y="2103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87878"/>
                </a:solidFill>
                <a:latin typeface="Helvetica Neue"/>
              </a:defRPr>
            </a:pPr>
            <a:r>
              <a:t>eGeMAPS Feature Set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0" y="2606040"/>
            <a:ext cx="2560320" cy="18288"/>
          </a:xfrm>
          <a:prstGeom prst="rect">
            <a:avLst/>
          </a:prstGeom>
          <a:solidFill>
            <a:srgbClr val="E6E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59" y="2743200"/>
            <a:ext cx="2743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D2D2D"/>
                </a:solidFill>
                <a:latin typeface="Helvetica Neue"/>
              </a:defRPr>
            </a:pPr>
          </a:p>
          <a:p>
            <a:pPr>
              <a:spcBef>
                <a:spcPts val="800"/>
              </a:spcBef>
              <a:defRPr sz="1500" b="0">
                <a:solidFill>
                  <a:srgbClr val="2D2D2D"/>
                </a:solidFill>
                <a:latin typeface="Helvetica Neue"/>
              </a:defRPr>
            </a:pPr>
            <a:r>
              <a:t>88 acoustic features</a:t>
            </a:r>
          </a:p>
          <a:p>
            <a:pPr>
              <a:spcBef>
                <a:spcPts val="800"/>
              </a:spcBef>
              <a:defRPr sz="1500" b="0">
                <a:solidFill>
                  <a:srgbClr val="2D2D2D"/>
                </a:solidFill>
                <a:latin typeface="Helvetica Neue"/>
              </a:defRPr>
            </a:pPr>
            <a:r>
              <a:t>Standardised &amp; interpretable</a:t>
            </a:r>
          </a:p>
          <a:p>
            <a:pPr>
              <a:spcBef>
                <a:spcPts val="800"/>
              </a:spcBef>
              <a:defRPr sz="1500" b="0">
                <a:solidFill>
                  <a:srgbClr val="2D2D2D"/>
                </a:solidFill>
                <a:latin typeface="Helvetica Neue"/>
              </a:defRPr>
            </a:pPr>
            <a:r>
              <a:t>Prosody, spectral, timing</a:t>
            </a:r>
          </a:p>
          <a:p>
            <a:pPr>
              <a:spcBef>
                <a:spcPts val="800"/>
              </a:spcBef>
              <a:defRPr sz="1500" b="0">
                <a:solidFill>
                  <a:srgbClr val="2D2D2D"/>
                </a:solidFill>
                <a:latin typeface="Helvetica Neue"/>
              </a:defRPr>
            </a:pPr>
            <a:r>
              <a:t>Each feature has meaning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0" y="1371600"/>
            <a:ext cx="3291840" cy="457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12480" y="1371600"/>
            <a:ext cx="3291840" cy="54864"/>
          </a:xfrm>
          <a:prstGeom prst="rect">
            <a:avLst/>
          </a:prstGeom>
          <a:solidFill>
            <a:srgbClr val="FF9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0" y="1645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E1E1E"/>
                </a:solidFill>
                <a:latin typeface="Helvetica Neue"/>
              </a:defRPr>
            </a:pPr>
            <a:r>
              <a:t>Models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103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87878"/>
                </a:solidFill>
                <a:latin typeface="Helvetica Neue"/>
              </a:defRPr>
            </a:pPr>
            <a:r>
              <a:t>SVM + Random Forest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78240" y="2606040"/>
            <a:ext cx="2560320" cy="18288"/>
          </a:xfrm>
          <a:prstGeom prst="rect">
            <a:avLst/>
          </a:prstGeom>
          <a:solidFill>
            <a:srgbClr val="E6E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0" y="2743200"/>
            <a:ext cx="2743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D2D2D"/>
                </a:solidFill>
                <a:latin typeface="Helvetica Neue"/>
              </a:defRPr>
            </a:pPr>
          </a:p>
          <a:p>
            <a:pPr>
              <a:spcBef>
                <a:spcPts val="800"/>
              </a:spcBef>
              <a:defRPr sz="1500" b="0">
                <a:solidFill>
                  <a:srgbClr val="2D2D2D"/>
                </a:solidFill>
                <a:latin typeface="Helvetica Neue"/>
              </a:defRPr>
            </a:pPr>
            <a:r>
              <a:t>Interpretable by design</a:t>
            </a:r>
          </a:p>
          <a:p>
            <a:pPr>
              <a:spcBef>
                <a:spcPts val="800"/>
              </a:spcBef>
              <a:defRPr sz="1500" b="0">
                <a:solidFill>
                  <a:srgbClr val="2D2D2D"/>
                </a:solidFill>
                <a:latin typeface="Helvetica Neue"/>
              </a:defRPr>
            </a:pPr>
            <a:r>
              <a:t>Feature importance rankings</a:t>
            </a:r>
          </a:p>
          <a:p>
            <a:pPr>
              <a:spcBef>
                <a:spcPts val="800"/>
              </a:spcBef>
              <a:defRPr sz="1500" b="0">
                <a:solidFill>
                  <a:srgbClr val="2D2D2D"/>
                </a:solidFill>
                <a:latin typeface="Helvetica Neue"/>
              </a:defRPr>
            </a:pPr>
            <a:r>
              <a:t>Not deep learning</a:t>
            </a:r>
          </a:p>
          <a:p>
            <a:pPr>
              <a:spcBef>
                <a:spcPts val="800"/>
              </a:spcBef>
              <a:defRPr sz="1500" b="0">
                <a:solidFill>
                  <a:srgbClr val="2D2D2D"/>
                </a:solidFill>
                <a:latin typeface="Helvetica Neue"/>
              </a:defRPr>
            </a:pPr>
            <a:r>
              <a:t>Understanding over accuracy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06240" y="3017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787878"/>
                </a:solidFill>
                <a:latin typeface="Helvetica Neue"/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79" y="3017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787878"/>
                </a:solidFill>
                <a:latin typeface="Helvetica Neue"/>
              </a:defRPr>
            </a:pPr>
            <a: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787878"/>
                </a:solidFill>
                <a:latin typeface="Helvetica Neue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1E1E"/>
                </a:solidFill>
                <a:latin typeface="Helvetica Neue"/>
              </a:defRPr>
            </a:pPr>
            <a:r>
              <a:t>The Headline Result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051560"/>
            <a:ext cx="1371600" cy="18288"/>
          </a:xfrm>
          <a:prstGeom prst="rect">
            <a:avLst/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7AFF"/>
                </a:solidFill>
                <a:latin typeface="Helvetica Neue"/>
              </a:defRPr>
            </a:pPr>
            <a:r>
              <a:t>Interview speech significantly outperforms reading</a:t>
            </a:r>
          </a:p>
        </p:txBody>
      </p:sp>
      <p:pic>
        <p:nvPicPr>
          <p:cNvPr id="5" name="Picture 4" descr="accurac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20240"/>
            <a:ext cx="5486400" cy="41148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858000" y="1920240"/>
            <a:ext cx="4389120" cy="1280160"/>
          </a:xfrm>
          <a:prstGeom prst="roundRect">
            <a:avLst>
              <a:gd name="adj" fmla="val 5000"/>
            </a:avLst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0" y="201168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87878"/>
                </a:solidFill>
                <a:latin typeface="Helvetica Neue"/>
              </a:defRPr>
            </a:pPr>
            <a:r>
              <a:t>Reading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2331720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787878"/>
                </a:solidFill>
                <a:latin typeface="Helvetica Neue"/>
              </a:defRPr>
            </a:pPr>
            <a:r>
              <a:t>72.3%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3383280"/>
            <a:ext cx="4389120" cy="1280160"/>
          </a:xfrm>
          <a:prstGeom prst="roundRect">
            <a:avLst>
              <a:gd name="adj" fmla="val 5000"/>
            </a:avLst>
          </a:prstGeom>
          <a:solidFill>
            <a:srgbClr val="F0F7FF"/>
          </a:solidFill>
          <a:ln w="1270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0" y="34747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7AFF"/>
                </a:solidFill>
                <a:latin typeface="Helvetica Neue"/>
              </a:defRPr>
            </a:pPr>
            <a:r>
              <a:t>Interview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3794760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7AFF"/>
                </a:solidFill>
                <a:latin typeface="Helvetica Neue"/>
              </a:defRPr>
            </a:pPr>
            <a:r>
              <a:t>87.1%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0" y="4937760"/>
            <a:ext cx="438912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0" y="5029200"/>
            <a:ext cx="4023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D2D2D"/>
                </a:solidFill>
                <a:latin typeface="Helvetica Neue"/>
              </a:defRPr>
            </a:pPr>
          </a:p>
          <a:p>
            <a:pPr>
              <a:spcBef>
                <a:spcPts val="600"/>
              </a:spcBef>
              <a:defRPr sz="1500" b="0">
                <a:solidFill>
                  <a:srgbClr val="2D2D2D"/>
                </a:solidFill>
                <a:latin typeface="Helvetica Neue"/>
              </a:defRPr>
            </a:pPr>
            <a:r>
              <a:t>↑  +15 percentage points</a:t>
            </a:r>
          </a:p>
          <a:p>
            <a:pPr>
              <a:spcBef>
                <a:spcPts val="600"/>
              </a:spcBef>
              <a:defRPr sz="1500" b="0">
                <a:solidFill>
                  <a:srgbClr val="2D2D2D"/>
                </a:solidFill>
                <a:latin typeface="Helvetica Neue"/>
              </a:defRPr>
            </a:pPr>
            <a:r>
              <a:t>📊  p = 0.0055 (statistically significant)</a:t>
            </a:r>
          </a:p>
          <a:p>
            <a:pPr>
              <a:spcBef>
                <a:spcPts val="600"/>
              </a:spcBef>
              <a:defRPr sz="1500" b="0">
                <a:solidFill>
                  <a:srgbClr val="2D2D2D"/>
                </a:solidFill>
                <a:latin typeface="Helvetica Neue"/>
              </a:defRPr>
            </a:pPr>
            <a:r>
              <a:t>🏆  Beats prior deep learning (81.6%)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2144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787878"/>
                </a:solidFill>
                <a:latin typeface="Helvetica Neue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1E1E"/>
                </a:solidFill>
                <a:latin typeface="Helvetica Neue"/>
              </a:defRPr>
            </a:pPr>
            <a:r>
              <a:t>Different Tasks, Different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051560"/>
            <a:ext cx="1371600" cy="18288"/>
          </a:xfrm>
          <a:prstGeom prst="rect">
            <a:avLst/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0">
                <a:solidFill>
                  <a:srgbClr val="787878"/>
                </a:solidFill>
                <a:latin typeface="Helvetica Neue"/>
              </a:defRPr>
            </a:pPr>
            <a:r>
              <a:t>Of the top 10 features for each task, only 1 appears in both lists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011680"/>
            <a:ext cx="4846320" cy="2560320"/>
          </a:xfrm>
          <a:prstGeom prst="roundRect">
            <a:avLst>
              <a:gd name="adj" fmla="val 5000"/>
            </a:avLst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88720" y="2240280"/>
            <a:ext cx="109728" cy="109728"/>
          </a:xfrm>
          <a:prstGeom prst="ellipse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21488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Helvetica Neue"/>
              </a:defRPr>
            </a:pPr>
            <a:r>
              <a:t>Reading Task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8720" y="2651760"/>
            <a:ext cx="4114800" cy="18288"/>
          </a:xfrm>
          <a:prstGeom prst="rect">
            <a:avLst/>
          </a:prstGeom>
          <a:solidFill>
            <a:srgbClr val="E6E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2743200"/>
            <a:ext cx="4114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D2D2D"/>
                </a:solidFill>
                <a:latin typeface="Helvetica Neue"/>
              </a:defRPr>
            </a:pPr>
          </a:p>
          <a:p>
            <a:pPr>
              <a:spcBef>
                <a:spcPts val="800"/>
              </a:spcBef>
              <a:defRPr sz="1600" b="0">
                <a:solidFill>
                  <a:srgbClr val="2D2D2D"/>
                </a:solidFill>
                <a:latin typeface="Helvetica Neue"/>
              </a:defRPr>
            </a:pPr>
            <a:r>
              <a:t>Spectral slopes, MFCCs</a:t>
            </a:r>
          </a:p>
          <a:p>
            <a:pPr>
              <a:spcBef>
                <a:spcPts val="800"/>
              </a:spcBef>
              <a:defRPr sz="1600" b="0">
                <a:solidFill>
                  <a:srgbClr val="2D2D2D"/>
                </a:solidFill>
                <a:latin typeface="Helvetica Neue"/>
              </a:defRPr>
            </a:pPr>
            <a:r>
              <a:t>Static voice properties</a:t>
            </a:r>
          </a:p>
          <a:p>
            <a:pPr>
              <a:spcBef>
                <a:spcPts val="800"/>
              </a:spcBef>
              <a:defRPr sz="1600" b="0">
                <a:solidFill>
                  <a:srgbClr val="2D2D2D"/>
                </a:solidFill>
                <a:latin typeface="Helvetica Neue"/>
              </a:defRPr>
            </a:pPr>
            <a:r>
              <a:t>What the voice sounds like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011680"/>
            <a:ext cx="4846320" cy="2560320"/>
          </a:xfrm>
          <a:prstGeom prst="roundRect">
            <a:avLst>
              <a:gd name="adj" fmla="val 5000"/>
            </a:avLst>
          </a:prstGeom>
          <a:solidFill>
            <a:srgbClr val="F0F7FF"/>
          </a:solidFill>
          <a:ln w="1270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75120" y="2240280"/>
            <a:ext cx="109728" cy="109728"/>
          </a:xfrm>
          <a:prstGeom prst="ellipse">
            <a:avLst/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0" y="21488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FF"/>
                </a:solidFill>
                <a:latin typeface="Helvetica Neue"/>
              </a:defRPr>
            </a:pPr>
            <a:r>
              <a:t>Interview Task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0" y="2651760"/>
            <a:ext cx="4114800" cy="18288"/>
          </a:xfrm>
          <a:prstGeom prst="rect">
            <a:avLst/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2743200"/>
            <a:ext cx="4114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D2D2D"/>
                </a:solidFill>
                <a:latin typeface="Helvetica Neue"/>
              </a:defRPr>
            </a:pPr>
          </a:p>
          <a:p>
            <a:pPr>
              <a:spcBef>
                <a:spcPts val="800"/>
              </a:spcBef>
              <a:defRPr sz="1600" b="0">
                <a:solidFill>
                  <a:srgbClr val="2D2D2D"/>
                </a:solidFill>
                <a:latin typeface="Helvetica Neue"/>
              </a:defRPr>
            </a:pPr>
            <a:r>
              <a:t>Variability measures, temporal dynamics</a:t>
            </a:r>
          </a:p>
          <a:p>
            <a:pPr>
              <a:spcBef>
                <a:spcPts val="800"/>
              </a:spcBef>
              <a:defRPr sz="1600" b="0">
                <a:solidFill>
                  <a:srgbClr val="2D2D2D"/>
                </a:solidFill>
                <a:latin typeface="Helvetica Neue"/>
              </a:defRPr>
            </a:pPr>
            <a:r>
              <a:t>Dynamic voice properties</a:t>
            </a:r>
          </a:p>
          <a:p>
            <a:pPr>
              <a:spcBef>
                <a:spcPts val="800"/>
              </a:spcBef>
              <a:defRPr sz="1600" b="0">
                <a:solidFill>
                  <a:srgbClr val="2D2D2D"/>
                </a:solidFill>
                <a:latin typeface="Helvetica Neue"/>
              </a:defRPr>
            </a:pPr>
            <a:r>
              <a:t>How the voice changes over time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937760"/>
            <a:ext cx="1033272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507492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2D2D2D"/>
                </a:solidFill>
                <a:latin typeface="Helvetica Neue"/>
              </a:defRPr>
            </a:pPr>
            <a:r>
              <a:t>These tasks don't give stronger or weaker versions of the same signal —</a:t>
            </a:r>
            <a:br/>
            <a:r>
              <a:t>they provide access to qualitatively different information about depression.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144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787878"/>
                </a:solidFill>
                <a:latin typeface="Helvetica Neue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1E1E"/>
                </a:solidFill>
                <a:latin typeface="Helvetica Neue"/>
              </a:defRPr>
            </a:pPr>
            <a:r>
              <a:t>The Variability Finding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051560"/>
            <a:ext cx="1371600" cy="18288"/>
          </a:xfrm>
          <a:prstGeom prst="rect">
            <a:avLst/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eature_importanc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669280" cy="47548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583680" y="1371600"/>
            <a:ext cx="4846320" cy="2286000"/>
          </a:xfrm>
          <a:prstGeom prst="roundRect">
            <a:avLst>
              <a:gd name="adj" fmla="val 5000"/>
            </a:avLst>
          </a:prstGeom>
          <a:solidFill>
            <a:srgbClr val="F0F7FF"/>
          </a:solidFill>
          <a:ln w="1270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0" y="150876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AFF"/>
                </a:solidFill>
                <a:latin typeface="Helvetica Neue"/>
              </a:defRPr>
            </a:pPr>
            <a:r>
              <a:t>Interview: 7/10 are variability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965960"/>
            <a:ext cx="4114800" cy="18288"/>
          </a:xfrm>
          <a:prstGeom prst="rect">
            <a:avLst/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2103120"/>
            <a:ext cx="4297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D2D2D"/>
                </a:solidFill>
                <a:latin typeface="Helvetica Neue"/>
              </a:defRPr>
            </a:pPr>
          </a:p>
          <a:p>
            <a:pPr>
              <a:spcBef>
                <a:spcPts val="600"/>
              </a:spcBef>
              <a:defRPr sz="1500" b="0">
                <a:solidFill>
                  <a:srgbClr val="2D2D2D"/>
                </a:solidFill>
                <a:latin typeface="Helvetica Neue"/>
              </a:defRPr>
            </a:pPr>
            <a:r>
              <a:t>① Spectral flux variability</a:t>
            </a:r>
          </a:p>
          <a:p>
            <a:pPr>
              <a:spcBef>
                <a:spcPts val="600"/>
              </a:spcBef>
              <a:defRPr sz="1500" b="0">
                <a:solidFill>
                  <a:srgbClr val="2D2D2D"/>
                </a:solidFill>
                <a:latin typeface="Helvetica Neue"/>
              </a:defRPr>
            </a:pPr>
            <a:r>
              <a:t>② Hammarberg index variability</a:t>
            </a:r>
          </a:p>
          <a:p>
            <a:pPr>
              <a:spcBef>
                <a:spcPts val="600"/>
              </a:spcBef>
              <a:defRPr sz="1500" b="0">
                <a:solidFill>
                  <a:srgbClr val="2D2D2D"/>
                </a:solidFill>
                <a:latin typeface="Helvetica Neue"/>
              </a:defRPr>
            </a:pPr>
            <a:r>
              <a:t>③ Pause duration variability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3931920"/>
            <a:ext cx="4846320" cy="731520"/>
          </a:xfrm>
          <a:prstGeom prst="roundRect">
            <a:avLst>
              <a:gd name="adj" fmla="val 5000"/>
            </a:avLst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402336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87878"/>
                </a:solidFill>
                <a:latin typeface="Helvetica Neue"/>
              </a:defRPr>
            </a:pPr>
            <a:r>
              <a:t>Reading: Only 2/10 are variability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4937760"/>
            <a:ext cx="4846320" cy="1371600"/>
          </a:xfrm>
          <a:prstGeom prst="roundRect">
            <a:avLst>
              <a:gd name="adj" fmla="val 5000"/>
            </a:avLst>
          </a:prstGeom>
          <a:solidFill>
            <a:srgbClr val="F0FDF4"/>
          </a:solidFill>
          <a:ln w="12700">
            <a:solidFill>
              <a:srgbClr val="34C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502920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C759"/>
                </a:solidFill>
                <a:latin typeface="Helvetica Neue"/>
              </a:defRPr>
            </a:pPr>
            <a:r>
              <a:t>Key Insight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5349240"/>
            <a:ext cx="4297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D2D2D"/>
                </a:solidFill>
                <a:latin typeface="Helvetica Neue"/>
              </a:defRPr>
            </a:pPr>
            <a:r>
              <a:t>Depression compresses dynamic range.</a:t>
            </a:r>
            <a:br/>
            <a:r>
              <a:t>"Flat affect" = reduced modulation</a:t>
            </a:r>
            <a:br/>
            <a:r>
              <a:t>across multiple voice dimensions.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2144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787878"/>
                </a:solidFill>
                <a:latin typeface="Helvetica Neue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1E1E"/>
                </a:solidFill>
                <a:latin typeface="Helvetica Neue"/>
              </a:defRPr>
            </a:pPr>
            <a:r>
              <a:t>Why Interview Works Better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051560"/>
            <a:ext cx="1371600" cy="18288"/>
          </a:xfrm>
          <a:prstGeom prst="rect">
            <a:avLst/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787878"/>
                </a:solidFill>
                <a:latin typeface="Helvetica Neue"/>
              </a:defRPr>
            </a:pPr>
            <a:r>
              <a:t>Three mechanisms from clinical literature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737360"/>
            <a:ext cx="3291840" cy="3840480"/>
          </a:xfrm>
          <a:prstGeom prst="roundRect">
            <a:avLst>
              <a:gd name="adj" fmla="val 5000"/>
            </a:avLst>
          </a:prstGeom>
          <a:solidFill>
            <a:srgbClr val="F0F7FF"/>
          </a:solidFill>
          <a:ln w="1270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2D2D2D"/>
                </a:solidFill>
                <a:latin typeface="Helvetica Neue"/>
              </a:defRPr>
            </a:pPr>
            <a:r>
              <a:t>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4688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7AFF"/>
                </a:solidFill>
                <a:latin typeface="Helvetica Neue"/>
              </a:defRPr>
            </a:pPr>
            <a:r>
              <a:t>Cognitive Load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3017520"/>
            <a:ext cx="2560320" cy="18288"/>
          </a:xfrm>
          <a:prstGeom prst="rect">
            <a:avLst/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320040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Helvetica Neue"/>
              </a:defRPr>
            </a:pPr>
            <a:r>
              <a:t>Spontaneous speech requires planning, retrieval, and monitoring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29768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87878"/>
                </a:solidFill>
                <a:latin typeface="Helvetica Neue"/>
              </a:defRPr>
            </a:pPr>
            <a:r>
              <a:t>Depression impairs executive function → pauses, hesitations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63440" y="1737360"/>
            <a:ext cx="3291840" cy="3840480"/>
          </a:xfrm>
          <a:prstGeom prst="roundRect">
            <a:avLst>
              <a:gd name="adj" fmla="val 5000"/>
            </a:avLst>
          </a:prstGeom>
          <a:solidFill>
            <a:srgbClr val="FFF5F5"/>
          </a:solidFill>
          <a:ln w="12700">
            <a:solidFill>
              <a:srgbClr val="FF3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192024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2D2D2D"/>
                </a:solidFill>
                <a:latin typeface="Helvetica Neue"/>
              </a:defRPr>
            </a:pPr>
            <a:r>
              <a:t>❤️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59" y="24688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3B30"/>
                </a:solidFill>
                <a:latin typeface="Helvetica Neue"/>
              </a:defRPr>
            </a:pPr>
            <a:r>
              <a:t>Emotional Engagement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0" y="3017520"/>
            <a:ext cx="2560320" cy="18288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59" y="320040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Helvetica Neue"/>
              </a:defRPr>
            </a:pPr>
            <a:r>
              <a:t>Interview topics engage affect — mood, relationships, daily life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59" y="429768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87878"/>
                </a:solidFill>
                <a:latin typeface="Helvetica Neue"/>
              </a:defRPr>
            </a:pPr>
            <a:r>
              <a:t>Depression alters expression → only visible when emotions are relevant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0" y="1737360"/>
            <a:ext cx="3291840" cy="3840480"/>
          </a:xfrm>
          <a:prstGeom prst="roundRect">
            <a:avLst>
              <a:gd name="adj" fmla="val 5000"/>
            </a:avLst>
          </a:prstGeom>
          <a:solidFill>
            <a:srgbClr val="F0FDF4"/>
          </a:solidFill>
          <a:ln w="12700">
            <a:solidFill>
              <a:srgbClr val="34C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192024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2D2D2D"/>
                </a:solidFill>
                <a:latin typeface="Helvetica Neue"/>
              </a:defRPr>
            </a:pPr>
            <a:r>
              <a:t>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4688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4C759"/>
                </a:solidFill>
                <a:latin typeface="Helvetica Neue"/>
              </a:defRPr>
            </a:pPr>
            <a:r>
              <a:t>Prosodic Freedom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78240" y="3017520"/>
            <a:ext cx="2560320" cy="18288"/>
          </a:xfrm>
          <a:prstGeom prst="rect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0" y="320040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Helvetica Neue"/>
              </a:defRPr>
            </a:pPr>
            <a:r>
              <a:t>Conversation allows full control over intonation and rhythm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429768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87878"/>
                </a:solidFill>
                <a:latin typeface="Helvetica Neue"/>
              </a:defRPr>
            </a:pPr>
            <a:r>
              <a:t>Reading follows punctuation → suppresses natural modulation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" y="5852160"/>
            <a:ext cx="10332720" cy="640080"/>
          </a:xfrm>
          <a:prstGeom prst="roundRect">
            <a:avLst>
              <a:gd name="adj" fmla="val 5000"/>
            </a:avLst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5897880"/>
            <a:ext cx="9784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2D2D2D"/>
                </a:solidFill>
                <a:latin typeface="Helvetica Neue"/>
              </a:defRPr>
            </a:pPr>
            <a:r>
              <a:t>Interview captures all three channels. Reading suppresses them.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787878"/>
                </a:solidFill>
                <a:latin typeface="Helvetica Neue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1E1E"/>
                </a:solidFill>
                <a:latin typeface="Helvetica Neue"/>
              </a:defRPr>
            </a:pPr>
            <a:r>
              <a:t>Implications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051560"/>
            <a:ext cx="1371600" cy="18288"/>
          </a:xfrm>
          <a:prstGeom prst="rect">
            <a:avLst/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371600"/>
            <a:ext cx="3291840" cy="4114800"/>
          </a:xfrm>
          <a:prstGeom prst="roundRect">
            <a:avLst>
              <a:gd name="adj" fmla="val 5000"/>
            </a:avLst>
          </a:prstGeom>
          <a:solidFill>
            <a:srgbClr val="F0F7FF"/>
          </a:solidFill>
          <a:ln w="1270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2D2D2D"/>
                </a:solidFill>
                <a:latin typeface="Helvetica Neue"/>
              </a:defRPr>
            </a:pPr>
            <a:r>
              <a:t>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103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007AFF"/>
                </a:solidFill>
                <a:latin typeface="Helvetica Neue"/>
              </a:defRPr>
            </a:pPr>
            <a:r>
              <a:t>Clinical Practice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2560320"/>
            <a:ext cx="2560320" cy="18288"/>
          </a:xfrm>
          <a:prstGeom prst="rect">
            <a:avLst/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74320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D2D2D"/>
                </a:solidFill>
                <a:latin typeface="Helvetica Neue"/>
              </a:defRPr>
            </a:pPr>
          </a:p>
          <a:p>
            <a:pPr>
              <a:spcBef>
                <a:spcPts val="1000"/>
              </a:spcBef>
              <a:defRPr sz="1500" b="0">
                <a:solidFill>
                  <a:srgbClr val="2D2D2D"/>
                </a:solidFill>
                <a:latin typeface="Helvetica Neue"/>
              </a:defRPr>
            </a:pPr>
            <a:r>
              <a:t>Task selection &gt; algorithm choice</a:t>
            </a:r>
          </a:p>
          <a:p>
            <a:pPr>
              <a:spcBef>
                <a:spcPts val="1000"/>
              </a:spcBef>
              <a:defRPr sz="1500" b="0">
                <a:solidFill>
                  <a:srgbClr val="2D2D2D"/>
                </a:solidFill>
                <a:latin typeface="Helvetica Neue"/>
              </a:defRPr>
            </a:pPr>
            <a:r>
              <a:t>Use spontaneous speech for screening</a:t>
            </a:r>
          </a:p>
          <a:p>
            <a:pPr>
              <a:spcBef>
                <a:spcPts val="1000"/>
              </a:spcBef>
              <a:defRPr sz="1500" b="0">
                <a:solidFill>
                  <a:srgbClr val="2D2D2D"/>
                </a:solidFill>
                <a:latin typeface="Helvetica Neue"/>
              </a:defRPr>
            </a:pPr>
            <a:r>
              <a:t>Measure variability, not just averages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1371600"/>
            <a:ext cx="3291840" cy="4114800"/>
          </a:xfrm>
          <a:prstGeom prst="roundRect">
            <a:avLst>
              <a:gd name="adj" fmla="val 5000"/>
            </a:avLst>
          </a:prstGeom>
          <a:solidFill>
            <a:srgbClr val="F0FDF4"/>
          </a:solidFill>
          <a:ln w="12700">
            <a:solidFill>
              <a:srgbClr val="34C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2D2D2D"/>
                </a:solidFill>
                <a:latin typeface="Helvetica Neue"/>
              </a:defRPr>
            </a:pPr>
            <a:r>
              <a:t>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59" y="2103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34C759"/>
                </a:solidFill>
                <a:latin typeface="Helvetica Neue"/>
              </a:defRPr>
            </a:pPr>
            <a:r>
              <a:t>Research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0" y="2560320"/>
            <a:ext cx="2560320" cy="18288"/>
          </a:xfrm>
          <a:prstGeom prst="rect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59" y="274320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D2D2D"/>
                </a:solidFill>
                <a:latin typeface="Helvetica Neue"/>
              </a:defRPr>
            </a:pPr>
          </a:p>
          <a:p>
            <a:pPr>
              <a:spcBef>
                <a:spcPts val="1000"/>
              </a:spcBef>
              <a:defRPr sz="1500" b="0">
                <a:solidFill>
                  <a:srgbClr val="2D2D2D"/>
                </a:solidFill>
                <a:latin typeface="Helvetica Neue"/>
              </a:defRPr>
            </a:pPr>
            <a:r>
              <a:t>Single-task studies miss markers</a:t>
            </a:r>
          </a:p>
          <a:p>
            <a:pPr>
              <a:spcBef>
                <a:spcPts val="1000"/>
              </a:spcBef>
              <a:defRPr sz="1500" b="0">
                <a:solidFill>
                  <a:srgbClr val="2D2D2D"/>
                </a:solidFill>
                <a:latin typeface="Helvetica Neue"/>
              </a:defRPr>
            </a:pPr>
            <a:r>
              <a:t>Feature importance is task-contingent</a:t>
            </a:r>
          </a:p>
          <a:p>
            <a:pPr>
              <a:spcBef>
                <a:spcPts val="1000"/>
              </a:spcBef>
              <a:defRPr sz="1500" b="0">
                <a:solidFill>
                  <a:srgbClr val="2D2D2D"/>
                </a:solidFill>
                <a:latin typeface="Helvetica Neue"/>
              </a:defRPr>
            </a:pPr>
            <a:r>
              <a:t>Don't generalise across tasks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0" y="1371600"/>
            <a:ext cx="3291840" cy="4114800"/>
          </a:xfrm>
          <a:prstGeom prst="roundRect">
            <a:avLst>
              <a:gd name="adj" fmla="val 5000"/>
            </a:avLst>
          </a:prstGeom>
          <a:solidFill>
            <a:srgbClr val="FFF8F0"/>
          </a:solidFill>
          <a:ln w="12700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2D2D2D"/>
                </a:solidFill>
                <a:latin typeface="Helvetica Neue"/>
              </a:defRPr>
            </a:pPr>
            <a:r>
              <a:t>⚙️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03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FF9500"/>
                </a:solidFill>
                <a:latin typeface="Helvetica Neue"/>
              </a:defRPr>
            </a:pPr>
            <a:r>
              <a:t>System Design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0" y="2560320"/>
            <a:ext cx="2560320" cy="18288"/>
          </a:xfrm>
          <a:prstGeom prst="rect">
            <a:avLst/>
          </a:prstGeom>
          <a:solidFill>
            <a:srgbClr val="FF9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0" y="274320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D2D2D"/>
                </a:solidFill>
                <a:latin typeface="Helvetica Neue"/>
              </a:defRPr>
            </a:pPr>
          </a:p>
          <a:p>
            <a:pPr>
              <a:spcBef>
                <a:spcPts val="1000"/>
              </a:spcBef>
              <a:defRPr sz="1500" b="0">
                <a:solidFill>
                  <a:srgbClr val="2D2D2D"/>
                </a:solidFill>
                <a:latin typeface="Helvetica Neue"/>
              </a:defRPr>
            </a:pPr>
            <a:r>
              <a:t>Elicit spontaneous speech</a:t>
            </a:r>
          </a:p>
          <a:p>
            <a:pPr>
              <a:spcBef>
                <a:spcPts val="1000"/>
              </a:spcBef>
              <a:defRPr sz="1500" b="0">
                <a:solidFill>
                  <a:srgbClr val="2D2D2D"/>
                </a:solidFill>
                <a:latin typeface="Helvetica Neue"/>
              </a:defRPr>
            </a:pPr>
            <a:r>
              <a:t>Use open-ended questions</a:t>
            </a:r>
          </a:p>
          <a:p>
            <a:pPr>
              <a:spcBef>
                <a:spcPts val="1000"/>
              </a:spcBef>
              <a:defRPr sz="1500" b="0">
                <a:solidFill>
                  <a:srgbClr val="2D2D2D"/>
                </a:solidFill>
                <a:latin typeface="Helvetica Neue"/>
              </a:defRPr>
            </a:pPr>
            <a:r>
              <a:t>Prioritise temporal dynamics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144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787878"/>
                </a:solidFill>
                <a:latin typeface="Helvetica Neue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1E1E"/>
                </a:solidFill>
                <a:latin typeface="Helvetica Neue"/>
              </a:defRPr>
            </a:pPr>
            <a:r>
              <a:t>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051560"/>
            <a:ext cx="1371600" cy="18288"/>
          </a:xfrm>
          <a:prstGeom prst="rect">
            <a:avLst/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371600"/>
            <a:ext cx="4846320" cy="3200400"/>
          </a:xfrm>
          <a:prstGeom prst="roundRect">
            <a:avLst>
              <a:gd name="adj" fmla="val 5000"/>
            </a:avLst>
          </a:prstGeom>
          <a:solidFill>
            <a:srgbClr val="FFF5F5"/>
          </a:solidFill>
          <a:ln w="12700">
            <a:solidFill>
              <a:srgbClr val="FF3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88720" y="1600200"/>
            <a:ext cx="109728" cy="109728"/>
          </a:xfrm>
          <a:prstGeom prst="ellipse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5087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3B30"/>
                </a:solidFill>
                <a:latin typeface="Helvetica Neue"/>
              </a:defRPr>
            </a:pPr>
            <a:r>
              <a:t>Most Serious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88720" y="1965960"/>
            <a:ext cx="4114800" cy="18288"/>
          </a:xfrm>
          <a:prstGeom prst="rect">
            <a:avLst/>
          </a:prstGeom>
          <a:solidFill>
            <a:srgbClr val="FF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21031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D2D2D"/>
                </a:solidFill>
                <a:latin typeface="Helvetica Neue"/>
              </a:defRPr>
            </a:pPr>
            <a:r>
              <a:t>Italian speech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4688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87878"/>
                </a:solidFill>
                <a:latin typeface="Helvetica Neue"/>
              </a:defRPr>
            </a:pPr>
            <a:r>
              <a:t>Features may not transfer to English or other languages — prosodic patterns can be language-dependent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1089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D2D2D"/>
                </a:solidFill>
                <a:latin typeface="Helvetica Neue"/>
              </a:defRPr>
            </a:pPr>
            <a:r>
              <a:t>Modest sample size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4747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87878"/>
                </a:solidFill>
                <a:latin typeface="Helvetica Neue"/>
              </a:defRPr>
            </a:pPr>
            <a:r>
              <a:t>118 speakers — though results were stable across all 5 CV folds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371600"/>
            <a:ext cx="4846320" cy="3200400"/>
          </a:xfrm>
          <a:prstGeom prst="roundRect">
            <a:avLst>
              <a:gd name="adj" fmla="val 5000"/>
            </a:avLst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675120" y="1600200"/>
            <a:ext cx="109728" cy="109728"/>
          </a:xfrm>
          <a:prstGeom prst="ellipse">
            <a:avLst/>
          </a:prstGeom>
          <a:solidFill>
            <a:srgbClr val="FF9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0" y="15087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9500"/>
                </a:solidFill>
                <a:latin typeface="Helvetica Neue"/>
              </a:defRPr>
            </a:pPr>
            <a:r>
              <a:t>Moderate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75120" y="1965960"/>
            <a:ext cx="4114800" cy="18288"/>
          </a:xfrm>
          <a:prstGeom prst="rect">
            <a:avLst/>
          </a:prstGeom>
          <a:solidFill>
            <a:srgbClr val="E6E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0" y="21031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D2D2D"/>
                </a:solidFill>
                <a:latin typeface="Helvetica Neue"/>
              </a:defRPr>
            </a:pPr>
            <a:r>
              <a:t>Binary labels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24688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87878"/>
                </a:solidFill>
                <a:latin typeface="Helvetica Neue"/>
              </a:defRPr>
            </a:pPr>
            <a:r>
              <a:t>No severity information — depressed or not, nothing in between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31089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D2D2D"/>
                </a:solidFill>
                <a:latin typeface="Helvetica Neue"/>
              </a:defRPr>
            </a:pPr>
            <a:r>
              <a:t>Gender imbalance (72% female)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34747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87878"/>
                </a:solidFill>
                <a:latin typeface="Helvetica Neue"/>
              </a:defRPr>
            </a:pPr>
            <a:r>
              <a:t>Women misclassified slightly more often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5029200"/>
            <a:ext cx="10332720" cy="1097280"/>
          </a:xfrm>
          <a:prstGeom prst="roundRect">
            <a:avLst>
              <a:gd name="adj" fmla="val 5000"/>
            </a:avLst>
          </a:prstGeom>
          <a:solidFill>
            <a:srgbClr val="F0F7FF"/>
          </a:solidFill>
          <a:ln w="1270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80160" y="51663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D2D2D"/>
                </a:solidFill>
                <a:latin typeface="Helvetica Neue"/>
              </a:defRPr>
            </a:pPr>
            <a:r>
              <a:t>→  Cross-corpus validation across languages and populations is essential before clinical deployment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2144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787878"/>
                </a:solidFill>
                <a:latin typeface="Helvetica Neue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1E1E"/>
                </a:solidFill>
                <a:latin typeface="Helvetica Neue"/>
              </a:defRPr>
            </a:pPr>
            <a: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051560"/>
            <a:ext cx="1371600" cy="18288"/>
          </a:xfrm>
          <a:prstGeom prst="rect">
            <a:avLst/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371600"/>
            <a:ext cx="9418320" cy="1463040"/>
          </a:xfrm>
          <a:prstGeom prst="roundRect">
            <a:avLst>
              <a:gd name="adj" fmla="val 5000"/>
            </a:avLst>
          </a:prstGeom>
          <a:solidFill>
            <a:srgbClr val="F0F7FF"/>
          </a:solidFill>
          <a:ln w="1270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37360" y="1463040"/>
            <a:ext cx="8686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007AFF"/>
                </a:solidFill>
                <a:latin typeface="Helvetica Neue"/>
              </a:defRPr>
            </a:pPr>
            <a:r>
              <a:t>"Spontaneous speech captures depression markers that reading misses —</a:t>
            </a:r>
            <a:br/>
            <a:r>
              <a:t>specifically, the reduced dynamic modulation that clinicians call 'flat affect'."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1E1E"/>
                </a:solidFill>
                <a:latin typeface="Helvetica Neue"/>
              </a:defRPr>
            </a:pPr>
            <a:r>
              <a:t>Contributions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703320"/>
            <a:ext cx="1371600" cy="18288"/>
          </a:xfrm>
          <a:prstGeom prst="rect">
            <a:avLst/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3931920"/>
            <a:ext cx="246888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0233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7AFF"/>
                </a:solidFill>
                <a:latin typeface="Helvetica Neue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5720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2D"/>
                </a:solidFill>
                <a:latin typeface="Helvetica Neue"/>
              </a:defRPr>
            </a:pPr>
            <a:r>
              <a:t>Task Effect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0292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87878"/>
                </a:solidFill>
                <a:latin typeface="Helvetica Neue"/>
              </a:defRPr>
            </a:pPr>
            <a:r>
              <a:t>+15 points, p = 0.0055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03320" y="3931920"/>
            <a:ext cx="246888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86200" y="40233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7AFF"/>
                </a:solidFill>
                <a:latin typeface="Helvetica Neue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45720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2D"/>
                </a:solidFill>
                <a:latin typeface="Helvetica Neue"/>
              </a:defRPr>
            </a:pPr>
            <a:r>
              <a:t>Task-Specific Features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6200" y="50292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87878"/>
                </a:solidFill>
                <a:latin typeface="Helvetica Neue"/>
              </a:defRPr>
            </a:pPr>
            <a:r>
              <a:t>Only 1/10 overlap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3931920"/>
            <a:ext cx="246888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40233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7AFF"/>
                </a:solidFill>
                <a:latin typeface="Helvetica Neue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45720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2D"/>
                </a:solidFill>
                <a:latin typeface="Helvetica Neue"/>
              </a:defRPr>
            </a:pPr>
            <a:r>
              <a:t>Interpretable ≥ Deep Learning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50292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87878"/>
                </a:solidFill>
                <a:latin typeface="Helvetica Neue"/>
              </a:defRPr>
            </a:pPr>
            <a:r>
              <a:t>87.1% vs 81.6%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81159" y="3931920"/>
            <a:ext cx="246888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64039" y="40233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7AFF"/>
                </a:solidFill>
                <a:latin typeface="Helvetica Neue"/>
              </a:defRPr>
            </a:pPr>
            <a: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64039" y="45720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2D"/>
                </a:solidFill>
                <a:latin typeface="Helvetica Neue"/>
              </a:defRPr>
            </a:pPr>
            <a:r>
              <a:t>Variability is Key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64039" y="50292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87878"/>
                </a:solidFill>
                <a:latin typeface="Helvetica Neue"/>
              </a:defRPr>
            </a:pPr>
            <a:r>
              <a:t>7/10 top interview features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787878"/>
                </a:solidFill>
                <a:latin typeface="Helvetica Neue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1E1E1E"/>
                </a:solidFill>
                <a:latin typeface="Helvetica Neue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787878"/>
                </a:solidFill>
                <a:latin typeface="Helvetica Neue"/>
              </a:defRPr>
            </a:pPr>
            <a:r>
              <a:t>Questions?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657600"/>
            <a:ext cx="2103120" cy="18288"/>
          </a:xfrm>
          <a:prstGeom prst="rect">
            <a:avLst/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9319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D2D2D"/>
                </a:solidFill>
                <a:latin typeface="Helvetica Neue"/>
              </a:defRPr>
            </a:pPr>
            <a:r>
              <a:t>Nile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38912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87878"/>
                </a:solidFill>
                <a:latin typeface="Helvetica Neue"/>
              </a:defRPr>
            </a:pPr>
            <a:r>
              <a:t>University of Glasgow  ·  School of Computing Science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5029200"/>
            <a:ext cx="667512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0" y="5120640"/>
            <a:ext cx="6126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87878"/>
                </a:solidFill>
                <a:latin typeface="Helvetica Neue"/>
              </a:defRPr>
            </a:pPr>
            <a:r>
              <a:t>87.1% interview  vs  72.3% reading   ·   p = 0.0055</a:t>
            </a:r>
            <a:br/>
            <a:r>
              <a:t>1/10 feature overlap   ·   7/10 interview features are variability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787878"/>
                </a:solidFill>
                <a:latin typeface="Helvetica Neue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